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turistic, curved, white structure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curved, white, layered pattern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lose-up of the edge of white curved stone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a curved, white, layered pattern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a layered pattern of grey stone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hite ribbed pattern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ngular, futuristic, white corridor with shadow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nominatim.org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Mini Project - Final Review Presentation"/>
          <p:cNvSpPr txBox="1"/>
          <p:nvPr>
            <p:ph type="subTitle" sz="quarter" idx="1"/>
          </p:nvPr>
        </p:nvSpPr>
        <p:spPr>
          <a:xfrm>
            <a:off x="1206500" y="7823200"/>
            <a:ext cx="21971000" cy="2006600"/>
          </a:xfrm>
          <a:prstGeom prst="rect">
            <a:avLst/>
          </a:prstGeom>
        </p:spPr>
        <p:txBody>
          <a:bodyPr/>
          <a:lstStyle/>
          <a:p>
            <a:pPr/>
            <a:r>
              <a:t>Mini Project - Final Review Presentation</a:t>
            </a:r>
          </a:p>
        </p:txBody>
      </p:sp>
      <p:sp>
        <p:nvSpPr>
          <p:cNvPr id="172" name="RainSense - A Smart Estimator for Rooftop Rainwater Harvesting System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295147">
              <a:defRPr spc="-99" sz="9960"/>
            </a:lvl1pPr>
          </a:lstStyle>
          <a:p>
            <a:pPr/>
            <a:r>
              <a:t>RainSense - A Smart Estimator for Rooftop Rainwater Harvesting 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am Detai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Team Details</a:t>
            </a:r>
          </a:p>
        </p:txBody>
      </p:sp>
      <p:sp>
        <p:nvSpPr>
          <p:cNvPr id="175" name="Team Members:  Shiva G [211423104623], Sijo Santhosh [211423104634]…"/>
          <p:cNvSpPr txBox="1"/>
          <p:nvPr>
            <p:ph type="body" idx="1"/>
          </p:nvPr>
        </p:nvSpPr>
        <p:spPr>
          <a:xfrm>
            <a:off x="1206500" y="3219804"/>
            <a:ext cx="21971000" cy="8256012"/>
          </a:xfrm>
          <a:prstGeom prst="rect">
            <a:avLst/>
          </a:prstGeom>
        </p:spPr>
        <p:txBody>
          <a:bodyPr/>
          <a:lstStyle/>
          <a:p>
            <a:pPr marL="584644" indent="-584644" defTabSz="767715">
              <a:spcBef>
                <a:spcPts val="0"/>
              </a:spcBef>
              <a:defRPr sz="5115">
                <a:latin typeface="+mn-lt"/>
                <a:ea typeface="+mn-ea"/>
                <a:cs typeface="+mn-cs"/>
                <a:sym typeface="Produkt Extralight"/>
              </a:defRPr>
            </a:pPr>
            <a:r>
              <a:t>Team Members:  Shiva G [211423104623], Sijo Santhosh [211423104634]</a:t>
            </a:r>
          </a:p>
          <a:p>
            <a: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pPr>
          </a:p>
          <a:p>
            <a:pPr marL="584644" indent="-584644" defTabSz="767715">
              <a:spcBef>
                <a:spcPts val="0"/>
              </a:spcBef>
              <a:defRPr sz="5115">
                <a:latin typeface="+mn-lt"/>
                <a:ea typeface="+mn-ea"/>
                <a:cs typeface="+mn-cs"/>
                <a:sym typeface="Produkt Extralight"/>
              </a:defRPr>
            </a:pPr>
            <a:r>
              <a:t>Guide Name: Mr. Sasikumar A.N. M.E., (Ph.D)</a:t>
            </a:r>
            <a:br/>
          </a:p>
          <a:p>
            <a:pPr marL="584644" indent="-584644" defTabSz="767715">
              <a:spcBef>
                <a:spcPts val="0"/>
              </a:spcBef>
              <a:defRPr sz="5115">
                <a:latin typeface="+mn-lt"/>
                <a:ea typeface="+mn-ea"/>
                <a:cs typeface="+mn-cs"/>
                <a:sym typeface="Produkt Extralight"/>
              </a:defRPr>
            </a:pPr>
            <a:r>
              <a:t>Co-Ordinator Name: Mr. Sasikumar A.N. M.E., (Ph.D)</a:t>
            </a:r>
          </a:p>
          <a:p>
            <a:pPr marL="584644" indent="-584644" defTabSz="767715">
              <a:spcBef>
                <a:spcPts val="0"/>
              </a:spcBef>
              <a:defRPr sz="5115">
                <a:latin typeface="+mn-lt"/>
                <a:ea typeface="+mn-ea"/>
                <a:cs typeface="+mn-cs"/>
                <a:sym typeface="Produkt Extralight"/>
              </a:defRPr>
            </a:pPr>
          </a:p>
          <a:p>
            <a:pPr marL="584644" indent="-584644" defTabSz="767715">
              <a:spcBef>
                <a:spcPts val="0"/>
              </a:spcBef>
              <a:defRPr sz="5115">
                <a:latin typeface="+mn-lt"/>
                <a:ea typeface="+mn-ea"/>
                <a:cs typeface="+mn-cs"/>
                <a:sym typeface="Produkt Extralight"/>
              </a:defRPr>
            </a:pPr>
            <a:r>
              <a:t>Batch: G14</a:t>
            </a:r>
          </a:p>
          <a:p>
            <a:pPr marL="584644" indent="-584644" defTabSz="767715">
              <a:spcBef>
                <a:spcPts val="0"/>
              </a:spcBef>
              <a:defRPr sz="5115">
                <a:latin typeface="+mn-lt"/>
                <a:ea typeface="+mn-ea"/>
                <a:cs typeface="+mn-cs"/>
                <a:sym typeface="Produkt Extralight"/>
              </a:defRPr>
            </a:pPr>
          </a:p>
          <a:p>
            <a:pPr marL="584644" indent="-584644" defTabSz="767715">
              <a:spcBef>
                <a:spcPts val="0"/>
              </a:spcBef>
              <a:defRPr sz="5115">
                <a:latin typeface="+mn-lt"/>
                <a:ea typeface="+mn-ea"/>
                <a:cs typeface="+mn-cs"/>
                <a:sym typeface="Produkt Extralight"/>
              </a:defRPr>
            </a:pPr>
            <a:r>
              <a:t>Domain: Data Science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Agenda Topics"/>
          <p:cNvSpPr txBox="1"/>
          <p:nvPr>
            <p:ph type="body" idx="1"/>
          </p:nvPr>
        </p:nvSpPr>
        <p:spPr>
          <a:xfrm>
            <a:off x="1206500" y="2285026"/>
            <a:ext cx="21971000" cy="11155844"/>
          </a:xfrm>
          <a:prstGeom prst="rect">
            <a:avLst/>
          </a:prstGeom>
        </p:spPr>
        <p:txBody>
          <a:bodyPr/>
          <a:lstStyle/>
          <a:p>
            <a:pPr/>
            <a:r>
              <a:t> </a:t>
            </a:r>
          </a:p>
        </p:txBody>
      </p:sp>
      <p:sp>
        <p:nvSpPr>
          <p:cNvPr id="178" name="Agenda Slide"/>
          <p:cNvSpPr txBox="1"/>
          <p:nvPr>
            <p:ph type="title"/>
          </p:nvPr>
        </p:nvSpPr>
        <p:spPr>
          <a:xfrm>
            <a:off x="1206500" y="342900"/>
            <a:ext cx="21971000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Agenda Slide</a:t>
            </a:r>
          </a:p>
        </p:txBody>
      </p:sp>
      <p:graphicFrame>
        <p:nvGraphicFramePr>
          <p:cNvPr id="179" name="Table 1"/>
          <p:cNvGraphicFramePr/>
          <p:nvPr/>
        </p:nvGraphicFramePr>
        <p:xfrm>
          <a:off x="6705600" y="2593464"/>
          <a:ext cx="10985500" cy="1055166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{2708684C-4D16-4618-839F-0558EEFCDFE6}</a:tableStyleId>
              </a:tblPr>
              <a:tblGrid>
                <a:gridCol w="1497642"/>
                <a:gridCol w="9475158"/>
              </a:tblGrid>
              <a:tr h="658685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S.No.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Agenda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Introduction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Objectives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Literature Survey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Problem Statement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System Architecture Diagram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6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Usecase and Other Diagrams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7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Module Description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8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Algorithms/Methodologies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Testing Approach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Test Cases &amp; Validation of Results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11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Performance Analysis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12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System Screenshots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13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Conclusion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14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Future Works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58685"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15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700"/>
                        <a:t>References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Introdu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Introduction</a:t>
            </a:r>
          </a:p>
        </p:txBody>
      </p:sp>
      <p:sp>
        <p:nvSpPr>
          <p:cNvPr id="182" name="RainSense is a Python-based CLI application designed to estimate the volume of rainwater that can be harvested from building rooftop rainwater harvesting systems.…"/>
          <p:cNvSpPr txBox="1"/>
          <p:nvPr>
            <p:ph type="body" idx="1"/>
          </p:nvPr>
        </p:nvSpPr>
        <p:spPr>
          <a:xfrm>
            <a:off x="1206500" y="2191089"/>
            <a:ext cx="21971000" cy="10313427"/>
          </a:xfrm>
          <a:prstGeom prst="rect">
            <a:avLst/>
          </a:prstGeom>
        </p:spPr>
        <p:txBody>
          <a:bodyPr/>
          <a:lstStyle/>
          <a:p>
            <a:pPr/>
            <a:r>
              <a:t>RainSense is a Python-based CLI application designed to estimate the volume of rainwater that can be harvested from building rooftop rainwater harvesting systems.</a:t>
            </a:r>
          </a:p>
          <a:p>
            <a:pPr/>
            <a:r>
              <a:t>The tool leverages location-specific rainfall data and predefined efficiency constants to provide accurate and actionable results.</a:t>
            </a:r>
          </a:p>
          <a:p>
            <a:pPr/>
            <a:r>
              <a:t>Developed with a modular architecture, RainSense emphasizes automation and user accessibility, requiring minimal manual input.</a:t>
            </a:r>
          </a:p>
          <a:p>
            <a:pPr/>
            <a:r>
              <a:t>The system supports sustainable water management by enabling users to assess the potential for rooftop rainwater collection and groundwater recharge.</a:t>
            </a:r>
          </a:p>
          <a:p>
            <a:pPr/>
            <a:r>
              <a:t>RainSense is intended for use by individual homeowners, institutions, and urban planners seeking reliable and scalable water conservation solutions.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Objectiv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Objectives</a:t>
            </a:r>
          </a:p>
        </p:txBody>
      </p:sp>
      <p:sp>
        <p:nvSpPr>
          <p:cNvPr id="185" name="Develop a scientifically robust tool to estimate the potential volume of rainwater harvestable from rooftops using reliable data sources…"/>
          <p:cNvSpPr txBox="1"/>
          <p:nvPr>
            <p:ph type="body" idx="1"/>
          </p:nvPr>
        </p:nvSpPr>
        <p:spPr>
          <a:xfrm>
            <a:off x="1206500" y="2310981"/>
            <a:ext cx="21971000" cy="10193535"/>
          </a:xfrm>
          <a:prstGeom prst="rect">
            <a:avLst/>
          </a:prstGeom>
        </p:spPr>
        <p:txBody>
          <a:bodyPr/>
          <a:lstStyle/>
          <a:p>
            <a:pPr marL="384047" indent="-384047" defTabSz="298703">
              <a:spcBef>
                <a:spcPts val="3900"/>
              </a:spcBef>
              <a:defRPr sz="3359"/>
            </a:pPr>
            <a:r>
              <a:t>Develop a scientifically robust tool to estimate the potential volume of rainwater harvestable from rooftops using reliable data sources</a:t>
            </a:r>
          </a:p>
          <a:p>
            <a:pPr marL="384047" indent="-384047" defTabSz="298703">
              <a:spcBef>
                <a:spcPts val="3900"/>
              </a:spcBef>
              <a:defRPr sz="3359"/>
            </a:pPr>
            <a:r>
              <a:t>Automate estimation by minimizing user input requirements, relying primarily on location-based data retrieval</a:t>
            </a:r>
          </a:p>
          <a:p>
            <a:pPr marL="384047" indent="-384047" defTabSz="298703">
              <a:spcBef>
                <a:spcPts val="3900"/>
              </a:spcBef>
              <a:defRPr sz="3359"/>
            </a:pPr>
            <a:r>
              <a:t>Incorporate standardized efficiency and loss parameters to ensure accuracy and consistency in calculations</a:t>
            </a:r>
          </a:p>
          <a:p>
            <a:pPr marL="384047" indent="-384047" defTabSz="298703">
              <a:spcBef>
                <a:spcPts val="3900"/>
              </a:spcBef>
              <a:defRPr sz="3359"/>
            </a:pPr>
            <a:r>
              <a:t>Provide actionable insights to support water storage planning and groundwater recharge initiatives</a:t>
            </a:r>
          </a:p>
          <a:p>
            <a:pPr marL="384047" indent="-384047" defTabSz="298703">
              <a:spcBef>
                <a:spcPts val="3900"/>
              </a:spcBef>
              <a:defRPr sz="3359"/>
            </a:pPr>
            <a:r>
              <a:t>Design the tool to be accessible and scalable for use by individuals, institutions, and urban planners</a:t>
            </a:r>
          </a:p>
          <a:p>
            <a:pPr marL="384047" indent="-384047" defTabSz="298703">
              <a:spcBef>
                <a:spcPts val="3900"/>
              </a:spcBef>
              <a:defRPr sz="3359"/>
            </a:pPr>
            <a:r>
              <a:t>Enable sustainable resource management by offering quantitative estimates for optimizing tank and recharge system capacities</a:t>
            </a:r>
          </a:p>
          <a:p>
            <a:pPr marL="384047" indent="-384047" defTabSz="298703">
              <a:spcBef>
                <a:spcPts val="3900"/>
              </a:spcBef>
              <a:defRPr sz="3359"/>
            </a:pPr>
            <a:r>
              <a:t>Establish a flexible framework to accommodate future enhancements such as batch processing and integration with additional data sources</a:t>
            </a:r>
          </a:p>
          <a:p>
            <a:pPr marL="384047" indent="-384047" defTabSz="298703">
              <a:spcBef>
                <a:spcPts val="3900"/>
              </a:spcBef>
              <a:defRPr sz="3359"/>
            </a:pPr>
            <a:r>
              <a:t>Support enhanced visualization capabilities to improve user understanding and decision-making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lide Subtitle"/>
          <p:cNvSpPr txBox="1"/>
          <p:nvPr>
            <p:ph type="body" idx="21"/>
          </p:nvPr>
        </p:nvSpPr>
        <p:spPr>
          <a:xfrm>
            <a:off x="822410" y="2324100"/>
            <a:ext cx="23208479" cy="111116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 </a:t>
            </a:r>
          </a:p>
        </p:txBody>
      </p:sp>
      <p:sp>
        <p:nvSpPr>
          <p:cNvPr id="188" name="Literature Survey"/>
          <p:cNvSpPr txBox="1"/>
          <p:nvPr>
            <p:ph type="title"/>
          </p:nvPr>
        </p:nvSpPr>
        <p:spPr>
          <a:xfrm>
            <a:off x="1206500" y="635000"/>
            <a:ext cx="22670505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Literature Survey</a:t>
            </a:r>
          </a:p>
        </p:txBody>
      </p:sp>
      <p:graphicFrame>
        <p:nvGraphicFramePr>
          <p:cNvPr id="189" name="Table 1"/>
          <p:cNvGraphicFramePr/>
          <p:nvPr/>
        </p:nvGraphicFramePr>
        <p:xfrm>
          <a:off x="1319455" y="2560099"/>
          <a:ext cx="21757790" cy="11024900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0" rtl="0">
                <a:tableStyleId>{2708684C-4D16-4618-839F-0558EEFCDFE6}</a:tableStyleId>
              </a:tblPr>
              <a:tblGrid>
                <a:gridCol w="1366813"/>
                <a:gridCol w="10510520"/>
                <a:gridCol w="3106972"/>
                <a:gridCol w="1373886"/>
                <a:gridCol w="6086400"/>
              </a:tblGrid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S.No.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Title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Author(s)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Year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3200">
                          <a:sym typeface="Graphik Semibold"/>
                        </a:rPr>
                        <a:t>Conference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Feasibility of Utilizing Rooftop Rainwater Harvesting (RRWH) to Decrease Urban Dependence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Reddy and Kumar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2021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International Journal of Water Resources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Assessment of Rainwater Harvesting Systems in Semi-arid Regions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Sharma et al.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2020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Journal of Arid Environments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Importance of RRWH for Sustainable Urban Development in Indian Cities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Thomas and Andrews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2019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Urban Water General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Water Sustainabilities in Indian Cities via RRWH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Meena and Jain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2020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Journal of Cleaner Production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Testing Efficiency of RRWH Systems in Eastern India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Chatterjee et al.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2018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Indian Journal of Environmental Protection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6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Viability of RRWH in Residential Buildings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Patel and Sinha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2021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Sustainable Cities and Society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7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Economic Feasibility through Cost Benefit Analyses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Bhatia and Kumar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2019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Water Economics and Policy Journal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8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Detailed Account of Water Conservation Using RRWH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Singh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2019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Water Conservation Research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9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Application of RRWH in Urban Water Management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Sharma and Verma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2020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Urban Water Management Conference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10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Enhanced RRWH Designs for Coastal Areas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Desai et al.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2021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Costal Engineering Journal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11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Climate Urban Planning and RRWH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Gupta and Prasad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2022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Climate and Urban Systems Conference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12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Use of Harvested Rainwater for Drinking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Yadav et al.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2023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Journal of Environmental Health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13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Integration of RRWH with Urban Stormwater Management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Sharma and Kothari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2021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Stormwater Management Symposium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14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GIS-Based Mapping for Rooftop Harvesting Potential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Choudhary and Gupta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2022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GIS and Environmental Modelling Journal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88262">
                <a:tc>
                  <a:txBody>
                    <a:bodyPr/>
                    <a:lstStyle/>
                    <a:p>
                      <a:pPr algn="ctr" defTabSz="914400">
                        <a:defRPr b="0" sz="1800"/>
                      </a:pPr>
                      <a:r>
                        <a:rPr sz="2200">
                          <a:sym typeface="Graphik Semibold"/>
                        </a:rPr>
                        <a:t>15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Smart RRWH Systems Using IoT and Automation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Kumar et al.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2023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algn="ctr" defTabSz="914400">
                        <a:defRPr sz="1800"/>
                      </a:pPr>
                      <a:r>
                        <a:rPr sz="2200"/>
                        <a:t>IoT for Smart Cities Conference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roblem Stateme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Problem Statement</a:t>
            </a:r>
          </a:p>
        </p:txBody>
      </p:sp>
      <p:sp>
        <p:nvSpPr>
          <p:cNvPr id="192" name="Water scarcity and declining groundwater levels in urban and rural regions present significant challenges for sustainable water management.…"/>
          <p:cNvSpPr txBox="1"/>
          <p:nvPr>
            <p:ph type="body" idx="1"/>
          </p:nvPr>
        </p:nvSpPr>
        <p:spPr>
          <a:xfrm>
            <a:off x="1068066" y="2666257"/>
            <a:ext cx="21971001" cy="10231928"/>
          </a:xfrm>
          <a:prstGeom prst="rect">
            <a:avLst/>
          </a:prstGeom>
        </p:spPr>
        <p:txBody>
          <a:bodyPr/>
          <a:lstStyle/>
          <a:p>
            <a:pPr/>
            <a:r>
              <a:t>Water scarcity and declining groundwater levels in urban and rural regions present significant challenges for sustainable water management.</a:t>
            </a:r>
          </a:p>
          <a:p>
            <a:pPr/>
            <a:r>
              <a:t>Rooftop rainwater harvesting is an effective solution but estimating its true potential remains complex. </a:t>
            </a:r>
          </a:p>
          <a:p>
            <a:pPr/>
            <a:r>
              <a:t>Many existing methods require detailed user inputs or rely on simulation-heavy approaches that limit scalability and accessibility. </a:t>
            </a:r>
          </a:p>
          <a:p>
            <a:pPr/>
            <a:r>
              <a:t>There is a need for an automated system that uses reliable rainfall data and standardized physical coefficients to calculate rooftop water collection potential for any location.</a:t>
            </a:r>
          </a:p>
          <a:p>
            <a:pPr/>
            <a:r>
              <a:t>Making this process simple, scientifically sound, and user-friendly will support better resource planning and encourage broader adoption of rainwater harvesting.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Close-up of a curved, white, layered pattern" descr="Close-up of a curved, white, layered pattern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454" b="0"/>
          <a:stretch>
            <a:fillRect/>
          </a:stretch>
        </p:blipFill>
        <p:spPr>
          <a:xfrm>
            <a:off x="9239397" y="2881684"/>
            <a:ext cx="15487905" cy="7952457"/>
          </a:xfrm>
          <a:prstGeom prst="rect">
            <a:avLst/>
          </a:prstGeom>
        </p:spPr>
      </p:pic>
      <p:sp>
        <p:nvSpPr>
          <p:cNvPr id="195" name="System Architecture"/>
          <p:cNvSpPr txBox="1"/>
          <p:nvPr>
            <p:ph type="title"/>
          </p:nvPr>
        </p:nvSpPr>
        <p:spPr>
          <a:xfrm>
            <a:off x="949409" y="1333500"/>
            <a:ext cx="9779001" cy="1438123"/>
          </a:xfrm>
          <a:prstGeom prst="rect">
            <a:avLst/>
          </a:prstGeom>
        </p:spPr>
        <p:txBody>
          <a:bodyPr/>
          <a:lstStyle>
            <a:lvl1pPr defTabSz="1950720">
              <a:defRPr spc="-79" sz="8000"/>
            </a:lvl1pPr>
          </a:lstStyle>
          <a:p>
            <a:pPr/>
            <a:r>
              <a:t>System Architecture</a:t>
            </a:r>
          </a:p>
        </p:txBody>
      </p:sp>
      <p:sp>
        <p:nvSpPr>
          <p:cNvPr id="196" name="Explanation:…"/>
          <p:cNvSpPr txBox="1"/>
          <p:nvPr>
            <p:ph type="body" sz="half" idx="1"/>
          </p:nvPr>
        </p:nvSpPr>
        <p:spPr>
          <a:xfrm>
            <a:off x="949409" y="2943031"/>
            <a:ext cx="9779001" cy="9552940"/>
          </a:xfrm>
          <a:prstGeom prst="rect">
            <a:avLst/>
          </a:prstGeom>
        </p:spPr>
        <p:txBody>
          <a:bodyPr/>
          <a:lstStyle/>
          <a:p>
            <a:pPr defTabSz="784225">
              <a:defRPr sz="6080"/>
            </a:pPr>
            <a:r>
              <a:t>Explanation:</a:t>
            </a:r>
          </a:p>
          <a:p>
            <a:pPr defTabSz="784225">
              <a:defRPr sz="5225"/>
            </a:pPr>
          </a:p>
          <a:p>
            <a:pPr marL="325754" indent="-325754" defTabSz="784225">
              <a:buSzPct val="100000"/>
              <a:buChar char="•"/>
              <a:defRPr sz="2850"/>
            </a:pPr>
            <a:r>
              <a:t>The system architecture diagram illustrates how user inputs (locality and roof details) pass through a multi-layered pipeline involving an interface, geolocation mapping, rainfall estimation, and data visualization, ultimately providing accurate water harvesting estimates and graphical summaries.</a:t>
            </a:r>
            <a:br/>
          </a:p>
          <a:p>
            <a:pPr marL="325754" indent="-325754" defTabSz="784225">
              <a:buSzPct val="100000"/>
              <a:buChar char="•"/>
              <a:defRPr sz="2850"/>
            </a:pPr>
            <a:r>
              <a:t>It also shows the separation of responsibilities across user, processing, and data layers, with each module accessing either the rainfall dataset or configuration constants as needed for efficient computations and outputs.</a:t>
            </a:r>
          </a:p>
          <a:p>
            <a:pPr defTabSz="784225">
              <a:defRPr sz="5225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Usecase and Other Diagram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Usecase and Other Diagrams</a:t>
            </a:r>
          </a:p>
        </p:txBody>
      </p:sp>
      <p:pic>
        <p:nvPicPr>
          <p:cNvPr id="199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855" y="3232149"/>
            <a:ext cx="3827024" cy="627586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unknown.png" descr="unknow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20543" y="4794250"/>
            <a:ext cx="4521201" cy="4127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unknown.png" descr="unknow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736395" y="4447155"/>
            <a:ext cx="7648438" cy="4821690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Activity Diagram"/>
          <p:cNvSpPr txBox="1"/>
          <p:nvPr/>
        </p:nvSpPr>
        <p:spPr>
          <a:xfrm>
            <a:off x="1903984" y="9602148"/>
            <a:ext cx="394512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Activity Diagram</a:t>
            </a:r>
          </a:p>
        </p:txBody>
      </p:sp>
      <p:sp>
        <p:nvSpPr>
          <p:cNvPr id="203" name="Usecase Diagram"/>
          <p:cNvSpPr txBox="1"/>
          <p:nvPr/>
        </p:nvSpPr>
        <p:spPr>
          <a:xfrm>
            <a:off x="9373824" y="9602148"/>
            <a:ext cx="4216401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Usecase Diagram</a:t>
            </a:r>
          </a:p>
        </p:txBody>
      </p:sp>
      <p:sp>
        <p:nvSpPr>
          <p:cNvPr id="204" name="Sequence Diagram"/>
          <p:cNvSpPr txBox="1"/>
          <p:nvPr/>
        </p:nvSpPr>
        <p:spPr>
          <a:xfrm>
            <a:off x="17719362" y="9602148"/>
            <a:ext cx="458266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Sequence Diagram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Usecase and Other Diagrams - Contd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Usecase and Other Diagrams - Contd.</a:t>
            </a:r>
          </a:p>
        </p:txBody>
      </p:sp>
      <p:pic>
        <p:nvPicPr>
          <p:cNvPr id="207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03650" y="4356403"/>
            <a:ext cx="17729978" cy="428012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unknown.png" descr="unknow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7974620" y="4153296"/>
            <a:ext cx="5107472" cy="5107472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Class Diagram"/>
          <p:cNvSpPr txBox="1"/>
          <p:nvPr/>
        </p:nvSpPr>
        <p:spPr>
          <a:xfrm>
            <a:off x="7007215" y="9723710"/>
            <a:ext cx="3508249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Class Diagram</a:t>
            </a:r>
          </a:p>
        </p:txBody>
      </p:sp>
      <p:sp>
        <p:nvSpPr>
          <p:cNvPr id="210" name="Deployment Diagram"/>
          <p:cNvSpPr txBox="1"/>
          <p:nvPr/>
        </p:nvSpPr>
        <p:spPr>
          <a:xfrm>
            <a:off x="17997964" y="9723710"/>
            <a:ext cx="5060697" cy="769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Deployment Diagram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Modul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Modules</a:t>
            </a:r>
          </a:p>
        </p:txBody>
      </p:sp>
      <p:sp>
        <p:nvSpPr>
          <p:cNvPr id="213" name="data_loader.py:    - Responsible for loading and preprocessing rainfall datasets in CSV or JSON format.    - Makes region-specific rainfall data accessible and ensures data integrity for subsequent calculations.…"/>
          <p:cNvSpPr txBox="1"/>
          <p:nvPr>
            <p:ph type="body" idx="1"/>
          </p:nvPr>
        </p:nvSpPr>
        <p:spPr>
          <a:xfrm>
            <a:off x="1206500" y="2374944"/>
            <a:ext cx="21971000" cy="11214479"/>
          </a:xfrm>
          <a:prstGeom prst="rect">
            <a:avLst/>
          </a:prstGeom>
        </p:spPr>
        <p:txBody>
          <a:bodyPr/>
          <a:lstStyle/>
          <a:p>
            <a:pPr marL="196596" indent="-196596" defTabSz="152907">
              <a:spcBef>
                <a:spcPts val="2000"/>
              </a:spcBef>
              <a:defRPr sz="2451"/>
            </a:pPr>
            <a:r>
              <a:rPr b="1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rPr>
              <a:t>data_loader.py:</a:t>
            </a:r>
            <a:br/>
            <a:r>
              <a:t>   - Responsible for loading and preprocessing rainfall datasets in CSV or JSON format.</a:t>
            </a:r>
            <a:br/>
            <a:r>
              <a:t>   - Makes region-specific rainfall data accessible and ensures data integrity for subsequent calculations.</a:t>
            </a:r>
          </a:p>
          <a:p>
            <a:pPr marL="196596" indent="-196596" defTabSz="152907">
              <a:spcBef>
                <a:spcPts val="2000"/>
              </a:spcBef>
              <a:defRPr sz="2451"/>
            </a:pPr>
            <a:r>
              <a:rPr b="1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rPr>
              <a:t>estimation.py:</a:t>
            </a:r>
            <a:br/>
            <a:r>
              <a:t>   - Implements the primary calculation logic for rooftop rainwater harvesting estimation.</a:t>
            </a:r>
            <a:br/>
            <a:r>
              <a:t>   - Uses rainfall values, roof information, and fixed efficiency constants to compute harvested water and recharge estimates.</a:t>
            </a:r>
          </a:p>
          <a:p>
            <a:pPr marL="196596" indent="-196596" defTabSz="152907">
              <a:spcBef>
                <a:spcPts val="2000"/>
              </a:spcBef>
              <a:defRPr sz="2451"/>
            </a:pPr>
            <a:r>
              <a:rPr b="1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rPr>
              <a:t>geo.py:</a:t>
            </a:r>
            <a:br/>
            <a:r>
              <a:t>  - Handles mapping and translation of user-provided locality details into region indices or codes required for correct dataset lookup.</a:t>
            </a:r>
            <a:br/>
            <a:r>
              <a:t>  - Facilitates accurate retrieval of regional rainfall data.</a:t>
            </a:r>
          </a:p>
          <a:p>
            <a:pPr marL="196596" indent="-196596" defTabSz="152907">
              <a:spcBef>
                <a:spcPts val="2000"/>
              </a:spcBef>
              <a:defRPr sz="2451"/>
            </a:pPr>
            <a:r>
              <a:rPr b="1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rPr>
              <a:t>plotting.py:</a:t>
            </a:r>
            <a:br/>
            <a:r>
              <a:t>  - Generates visual summaries, such as monthly and annual bar charts, for harvested water, tank usage, and recharge statistics.</a:t>
            </a:r>
            <a:br/>
            <a:r>
              <a:t>  - Improves clarity and interpretability of estimation results for the end-user.</a:t>
            </a:r>
          </a:p>
          <a:p>
            <a:pPr marL="196596" indent="-196596" defTabSz="152907">
              <a:spcBef>
                <a:spcPts val="2000"/>
              </a:spcBef>
              <a:defRPr sz="2451"/>
            </a:pPr>
            <a:r>
              <a:rPr b="1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rPr>
              <a:t>main.py:</a:t>
            </a:r>
            <a:br/>
            <a:r>
              <a:t>  - Serves as the command-line application’s entry point and coordinator.</a:t>
            </a:r>
            <a:br/>
            <a:r>
              <a:t>  - Orchestrates user interaction, manages workflow between modules, and handles input validation and error management.</a:t>
            </a:r>
          </a:p>
          <a:p>
            <a:pPr marL="196596" indent="-196596" defTabSz="152907">
              <a:spcBef>
                <a:spcPts val="2000"/>
              </a:spcBef>
              <a:defRPr sz="2451"/>
            </a:pPr>
            <a:r>
              <a:rPr b="1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rPr>
              <a:t>setup.py:</a:t>
            </a:r>
            <a:br/>
            <a:r>
              <a:t>  - Enables packaging and installation of the CLI app as a Python module.</a:t>
            </a:r>
            <a:br/>
            <a:r>
              <a:t>  - Ensures all project dependencies are tracked and the CLI command is registered for user access.</a:t>
            </a:r>
          </a:p>
          <a:p>
            <a:pPr marL="196596" indent="-196596" defTabSz="152907">
              <a:spcBef>
                <a:spcPts val="2000"/>
              </a:spcBef>
              <a:defRPr sz="2451"/>
            </a:pPr>
            <a:r>
              <a:rPr b="1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rPr>
              <a:t>Inter-module interaction:</a:t>
            </a:r>
            <a:br/>
            <a:r>
              <a:t>  - User input from main.py is validated and processed, then geo.py determines the relevant region.</a:t>
            </a:r>
            <a:br/>
            <a:r>
              <a:t>  - main.py calls data_loader.py to retrieve the required rainfall data for that region, then estimation.py performs calculations using this data and system     constants.</a:t>
            </a:r>
            <a:br/>
            <a:r>
              <a:t>  - Upon request, plotting.py is invoked by main.py to visualize the results.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Algorithm/Methodology"/>
          <p:cNvSpPr txBox="1"/>
          <p:nvPr>
            <p:ph type="title"/>
          </p:nvPr>
        </p:nvSpPr>
        <p:spPr>
          <a:xfrm>
            <a:off x="1206500" y="317500"/>
            <a:ext cx="21971000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Algorithm/Methodology</a:t>
            </a:r>
          </a:p>
        </p:txBody>
      </p:sp>
      <p:sp>
        <p:nvSpPr>
          <p:cNvPr id="216" name="• Dataset Integration…"/>
          <p:cNvSpPr txBox="1"/>
          <p:nvPr>
            <p:ph type="body" idx="1"/>
          </p:nvPr>
        </p:nvSpPr>
        <p:spPr>
          <a:xfrm>
            <a:off x="1206499" y="1961238"/>
            <a:ext cx="21971001" cy="11772845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Dataset Integration</a:t>
            </a:r>
            <a:endParaRPr b="0"/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Uses preprocessed rainfall datasets (CSV or JSON) indexed by location (district, city, or coordinates)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Maps user-provided location to corresponding rainfall entry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Validates field formats and units to maintain data consistency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Parameter Initialization</a:t>
            </a:r>
            <a:endParaRPr b="0"/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Loads predefined constants such as roof material efficiency, pipe loss, and absorption rate at startup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Assumes standard values for roof area and tank capacity if not specified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Main Estimation Algorithm</a:t>
            </a:r>
            <a:endParaRPr b="0"/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Retrieves total rainfall for the selected location and period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Calculates raw water volume: Raw Volume (L) = Rainfall (mm) × Roof Area (m²)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Applies efficiency coefficients: Effective Harvest (L) = Raw Volume × Material Efficiency × Pipe Loss × Absorption Loss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Tank and Recharge Handling</a:t>
            </a:r>
            <a:endParaRPr b="0"/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Compares calculated harvest with standard tank capacity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Assigns up to tank capacity for storage; computes surplus as potential groundwater recharge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User Interface Flow</a:t>
            </a:r>
            <a:endParaRPr b="0"/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Accepts user inputs (location, optional roof material/area)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Handles data retrieval, estimation, and output via a clear CLI interface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Includes validation checks and user-friendly feedback for invalid inputs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b="1"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Visualization</a:t>
            </a:r>
            <a:endParaRPr b="0"/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Generates bar or line plots of monthly or yearly harvested water volumes (matplotlib/seaborn)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139700" algn="l"/>
                <a:tab pos="279400" algn="l"/>
                <a:tab pos="419100" algn="l"/>
                <a:tab pos="558800" algn="l"/>
                <a:tab pos="711200" algn="l"/>
                <a:tab pos="850900" algn="l"/>
                <a:tab pos="990600" algn="l"/>
                <a:tab pos="1130300" algn="l"/>
                <a:tab pos="1270000" algn="l"/>
                <a:tab pos="1422400" algn="l"/>
                <a:tab pos="1562100" algn="l"/>
                <a:tab pos="1701800" algn="l"/>
              </a:tabLst>
              <a:defRPr sz="204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Enhances result interpretation and visual clarity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s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Testing</a:t>
            </a:r>
          </a:p>
        </p:txBody>
      </p:sp>
      <p:sp>
        <p:nvSpPr>
          <p:cNvPr id="219" name="• Unit Testing of Core Modules…"/>
          <p:cNvSpPr txBox="1"/>
          <p:nvPr>
            <p:ph type="body" idx="1"/>
          </p:nvPr>
        </p:nvSpPr>
        <p:spPr>
          <a:xfrm>
            <a:off x="1206499" y="2238598"/>
            <a:ext cx="21971001" cy="11376086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b="1"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Unit Testing of Core Modules</a:t>
            </a:r>
            <a:endParaRPr b="0"/>
          </a:p>
          <a:p>
            <a:pPr lvl="1" marL="0" indent="420623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All major computational modules, including estimation logic and tank handling, were validated through focused unit tests to ensure reliability and correctness.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b="1"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Validation Against Reference Data</a:t>
            </a:r>
            <a:endParaRPr b="0"/>
          </a:p>
          <a:p>
            <a:pPr lvl="1" marL="0" indent="420623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Harvesting estimates were verified using real-world rainfall and rooftop data.</a:t>
            </a:r>
          </a:p>
          <a:p>
            <a:pPr lvl="1" marL="0" indent="420623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Results were benchmarked against known outcomes from published reports and field data.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b="1"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Automated Test Scripts</a:t>
            </a:r>
            <a:endParaRPr b="0"/>
          </a:p>
          <a:p>
            <a:pPr lvl="1" marL="0" indent="420623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Automated tests executed core calculation routines for both edge cases and typical scenarios.</a:t>
            </a:r>
          </a:p>
          <a:p>
            <a:pPr lvl="1" marL="0" indent="420623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Error-handling and input validation were tested for robustness against invalid or missing data.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b="1"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Result Consistency Checks</a:t>
            </a:r>
            <a:endParaRPr b="0"/>
          </a:p>
          <a:p>
            <a:pPr lvl="1" marL="0" indent="420623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Outputs across multiple runs were compared to confirm consistency.</a:t>
            </a:r>
          </a:p>
          <a:p>
            <a:pPr lvl="1" marL="0" indent="420623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Calculated values were validated manually and against alternative estimation tools.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b="1"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Code Quality and Documentation</a:t>
            </a:r>
            <a:endParaRPr b="0"/>
          </a:p>
          <a:p>
            <a:pPr lvl="1" marL="0" indent="420623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Codebase was modularized and well-documented for easier review and maintenance.</a:t>
            </a:r>
          </a:p>
          <a:p>
            <a:pPr lvl="1" marL="0" indent="420623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Test cases and expected outcomes were archived to ensure transparency and reproducibility.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b="1"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User Experience Testing</a:t>
            </a:r>
            <a:endParaRPr b="0"/>
          </a:p>
          <a:p>
            <a:pPr lvl="1" marL="0" indent="420623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317500" algn="l"/>
                <a:tab pos="647700" algn="l"/>
                <a:tab pos="977900" algn="l"/>
                <a:tab pos="1308100" algn="l"/>
                <a:tab pos="1625600" algn="l"/>
                <a:tab pos="1955800" algn="l"/>
                <a:tab pos="2286000" algn="l"/>
                <a:tab pos="2616200" algn="l"/>
                <a:tab pos="2933700" algn="l"/>
                <a:tab pos="3263900" algn="l"/>
                <a:tab pos="3594100" algn="l"/>
                <a:tab pos="3924300" algn="l"/>
              </a:tabLst>
              <a:defRPr sz="23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CLI workflow was tested iteratively for clarity of prompts, ease of input handling, and user feedback quality.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erformance Analysis"/>
          <p:cNvSpPr txBox="1"/>
          <p:nvPr>
            <p:ph type="title"/>
          </p:nvPr>
        </p:nvSpPr>
        <p:spPr>
          <a:xfrm>
            <a:off x="1206500" y="266700"/>
            <a:ext cx="21971000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Performance Analysis</a:t>
            </a:r>
          </a:p>
        </p:txBody>
      </p:sp>
      <p:sp>
        <p:nvSpPr>
          <p:cNvPr id="222" name="• Execution Speed…"/>
          <p:cNvSpPr txBox="1"/>
          <p:nvPr>
            <p:ph type="body" idx="1"/>
          </p:nvPr>
        </p:nvSpPr>
        <p:spPr>
          <a:xfrm>
            <a:off x="1206499" y="1950762"/>
            <a:ext cx="21971001" cy="11774236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b="1"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Execution Speed</a:t>
            </a:r>
            <a:endParaRPr b="0"/>
          </a:p>
          <a:p>
            <a:pPr lvl="1" marL="0" indent="347472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RainSense performs estimations within seconds for a single location.</a:t>
            </a:r>
          </a:p>
          <a:p>
            <a:pPr lvl="1" marL="0" indent="347472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Uses preprocessed datasets (CSV/JSON) for fast data loading and lookup.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b="1"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Resource Utilization</a:t>
            </a:r>
            <a:endParaRPr b="0"/>
          </a:p>
          <a:p>
            <a:pPr lvl="1" marL="0" indent="347472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Maintains low memory and CPU usage, efficient on standard systems.</a:t>
            </a:r>
          </a:p>
          <a:p>
            <a:pPr lvl="1" marL="0" indent="347472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Modular structure allows future optimizations and parallel processing.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b="1"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Scalability</a:t>
            </a:r>
            <a:endParaRPr b="0"/>
          </a:p>
          <a:p>
            <a:pPr lvl="1" marL="0" indent="347472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Scales smoothly from single to multiple locations.</a:t>
            </a:r>
          </a:p>
          <a:p>
            <a:pPr lvl="1" marL="0" indent="347472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Easily integrates new datasets or regions without performance drops.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b="1"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Accuracy and Consistency</a:t>
            </a:r>
            <a:endParaRPr b="0"/>
          </a:p>
          <a:p>
            <a:pPr lvl="1" marL="0" indent="347472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Results align with standard rainwater harvesting benchmarks.</a:t>
            </a:r>
          </a:p>
          <a:p>
            <a:pPr lvl="1" marL="0" indent="347472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Consistent use of validated constants ensures scientific accuracy.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b="1"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Error Handling</a:t>
            </a:r>
            <a:endParaRPr b="0"/>
          </a:p>
          <a:p>
            <a:pPr lvl="1" marL="0" indent="347472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Strong input validation and exception control prevent crashes.</a:t>
            </a:r>
          </a:p>
          <a:p>
            <a:pPr lvl="1" marL="0" indent="347472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User guidance messages ensure smooth corrections and stable runs.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b="1"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Extensibility</a:t>
            </a:r>
            <a:endParaRPr b="0"/>
          </a:p>
          <a:p>
            <a:pPr lvl="1" marL="0" indent="347472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Core modules ready for integration with real-time data feeds.</a:t>
            </a:r>
          </a:p>
          <a:p>
            <a:pPr lvl="1" marL="0" indent="347472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79500" algn="l"/>
                <a:tab pos="1346200" algn="l"/>
                <a:tab pos="1612900" algn="l"/>
                <a:tab pos="1879600" algn="l"/>
                <a:tab pos="2159000" algn="l"/>
                <a:tab pos="2425700" algn="l"/>
                <a:tab pos="2692400" algn="l"/>
                <a:tab pos="2971800" algn="l"/>
                <a:tab pos="3238500" algn="l"/>
              </a:tabLst>
              <a:defRPr sz="2204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 – Future upgrades can enhance analytics without affecting speed.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estimate.png" descr="estimate.pn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812799" y="5282707"/>
            <a:ext cx="7289801" cy="3150586"/>
          </a:xfrm>
          <a:prstGeom prst="rect">
            <a:avLst/>
          </a:prstGeom>
        </p:spPr>
      </p:pic>
      <p:pic>
        <p:nvPicPr>
          <p:cNvPr id="225" name="rainfall_stats_trl.png" descr="rainfall_stats_trl.png"/>
          <p:cNvPicPr>
            <a:picLocks noChangeAspect="1"/>
          </p:cNvPicPr>
          <p:nvPr>
            <p:ph type="pic" idx="22"/>
          </p:nvPr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8559800" y="4434886"/>
            <a:ext cx="7289800" cy="4846228"/>
          </a:xfrm>
          <a:prstGeom prst="rect">
            <a:avLst/>
          </a:prstGeom>
        </p:spPr>
      </p:pic>
      <p:pic>
        <p:nvPicPr>
          <p:cNvPr id="226" name="harvesting_potential_stats.png" descr="harvesting_potential_stats.png"/>
          <p:cNvPicPr>
            <a:picLocks noChangeAspect="1"/>
          </p:cNvPicPr>
          <p:nvPr>
            <p:ph type="pic" idx="23"/>
          </p:nvPr>
        </p:nvPicPr>
        <p:blipFill>
          <a:blip r:embed="rId4">
            <a:extLst/>
          </a:blip>
          <a:srcRect l="0" t="0" r="0" b="0"/>
          <a:stretch>
            <a:fillRect/>
          </a:stretch>
        </p:blipFill>
        <p:spPr>
          <a:xfrm>
            <a:off x="16306800" y="3930403"/>
            <a:ext cx="7289801" cy="5855194"/>
          </a:xfrm>
          <a:prstGeom prst="rect">
            <a:avLst/>
          </a:prstGeom>
        </p:spPr>
      </p:pic>
      <p:sp>
        <p:nvSpPr>
          <p:cNvPr id="227" name="Screenshots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Screenshots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• RainSense stands as a novel, data-driven CLI framework designed to estimate rooftop rainwater harvesting potential with accuracy and repeatability.…"/>
          <p:cNvSpPr txBox="1"/>
          <p:nvPr>
            <p:ph type="body" idx="21"/>
          </p:nvPr>
        </p:nvSpPr>
        <p:spPr>
          <a:xfrm>
            <a:off x="1206500" y="2324099"/>
            <a:ext cx="21971000" cy="1112259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8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• RainSense stands as a novel, data-driven CLI framework designed to estimate rooftop rainwater harvesting potential with accuracy and repeatability.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8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8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• By seamlessly integrating real-world rainfall datasets with fixed physical and efficiency constants, the system ensures standardized and reliable estimations across diverse regions.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8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8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• It effectively bridges the gap between traditional manual calculations and modern digital analysis, making sustainable water estimation more accessible and consistent.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8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8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• With its modular design and extendable architecture, RainSense can easily evolve — incorporating new datasets, parameters, or real-time data sources.</a:t>
            </a: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8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b="1" sz="28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The tool empowers individuals, organizations, and policymakers to make informed decisions that support sustainable water</a:t>
            </a:r>
            <a:r>
              <a:t> </a:t>
            </a:r>
            <a:r>
              <a:rPr b="0"/>
              <a:t>management and conservation.</a:t>
            </a:r>
            <a:endParaRPr b="0"/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8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defTabSz="12700">
              <a:lnSpc>
                <a:spcPct val="135000"/>
              </a:lnSpc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2800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• Overall, RainSense demonstrates how computational methodologies can transform environmental analysis into a practical, transparent, and actionable solution for a sustainable future.</a:t>
            </a:r>
          </a:p>
        </p:txBody>
      </p:sp>
      <p:sp>
        <p:nvSpPr>
          <p:cNvPr id="230" name="Conclus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Conclusion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Future Scop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Future Scope</a:t>
            </a:r>
          </a:p>
        </p:txBody>
      </p:sp>
      <p:sp>
        <p:nvSpPr>
          <p:cNvPr id="233" name="• Batch-Mode Analysis…"/>
          <p:cNvSpPr txBox="1"/>
          <p:nvPr>
            <p:ph type="body" idx="1"/>
          </p:nvPr>
        </p:nvSpPr>
        <p:spPr>
          <a:xfrm>
            <a:off x="1206499" y="2393794"/>
            <a:ext cx="21971001" cy="11072028"/>
          </a:xfrm>
          <a:prstGeom prst="rect">
            <a:avLst/>
          </a:prstGeom>
        </p:spPr>
        <p:txBody>
          <a:bodyPr/>
          <a:lstStyle/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b="1"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Batch-Mode Analysis</a:t>
            </a:r>
            <a:endParaRPr b="0"/>
          </a:p>
          <a:p>
            <a:pPr lvl="1" marL="0" indent="34290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- </a:t>
            </a:r>
            <a:r>
              <a:t>Extend RainSense to process multiple locations at once, enabling large-scale comparative studies and multi-region analysis.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b="1"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Real-Time and Forecast Data</a:t>
            </a:r>
            <a:endParaRPr b="0"/>
          </a:p>
          <a:p>
            <a:pPr lvl="1" marL="0" indent="34290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- </a:t>
            </a:r>
            <a:r>
              <a:t>Integrate with rainfall APIs to provide live or predictive estimations, helping users plan storage and usage more effectively.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b="1"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Cloud-Based Deployment</a:t>
            </a:r>
            <a:endParaRPr b="0"/>
          </a:p>
          <a:p>
            <a:pPr lvl="1" marL="0" indent="34290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- </a:t>
            </a:r>
            <a:r>
              <a:t>Host RainSense on the cloud for accessibility, scalability, and collaborative use in urban or institutional planning.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b="1"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IoT-Driven Monitoring</a:t>
            </a:r>
            <a:endParaRPr b="0"/>
          </a:p>
          <a:p>
            <a:pPr lvl="1" marL="0" indent="34290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- </a:t>
            </a:r>
            <a:r>
              <a:t>Incorporate IoT sensors to track rainfall, roof runoff, and tank levels in real time, enabling adaptive estimation and automation.</a:t>
            </a: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0" indent="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b="1"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b="0"/>
              <a:t>• </a:t>
            </a:r>
            <a:r>
              <a:t>Machine Learning Integration</a:t>
            </a:r>
            <a:endParaRPr b="0"/>
          </a:p>
          <a:p>
            <a:pPr lvl="1" marL="0" indent="342900" defTabSz="914400">
              <a:lnSpc>
                <a:spcPct val="135000"/>
              </a:lnSpc>
              <a:spcBef>
                <a:spcPts val="0"/>
              </a:spcBef>
              <a:buSzTx/>
              <a:buNone/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  <a:defRPr sz="2925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- </a:t>
            </a:r>
            <a:r>
              <a:t>Introduce predictive models that learn from historical data to forecast future harvesting potential with greater accuracy.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References"/>
          <p:cNvSpPr txBox="1"/>
          <p:nvPr>
            <p:ph type="title"/>
          </p:nvPr>
        </p:nvSpPr>
        <p:spPr>
          <a:xfrm>
            <a:off x="1206500" y="114300"/>
            <a:ext cx="21971000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References</a:t>
            </a:r>
          </a:p>
        </p:txBody>
      </p:sp>
      <p:sp>
        <p:nvSpPr>
          <p:cNvPr id="236" name="[1] S. Reddy and A. Kumar, “Feasibility of utilizing rooftop rainwater harvesting to decrease urban dependence on conventional water sources,” J. Water Resour. Manag., vol. 32, no. 7, pp. 2151–2165, 2018.…"/>
          <p:cNvSpPr txBox="1"/>
          <p:nvPr>
            <p:ph type="body" idx="1"/>
          </p:nvPr>
        </p:nvSpPr>
        <p:spPr>
          <a:xfrm>
            <a:off x="1206500" y="1622833"/>
            <a:ext cx="21971000" cy="11982118"/>
          </a:xfrm>
          <a:prstGeom prst="rect">
            <a:avLst/>
          </a:prstGeom>
        </p:spPr>
        <p:txBody>
          <a:bodyPr/>
          <a:lstStyle/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i="1"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i="0"/>
              <a:t>[1] S. Reddy and A. Kumar, </a:t>
            </a:r>
            <a:r>
              <a:t>“Feasibility of utilizing rooftop rainwater harvesting to decrease urban dependence on conventional water sources,”</a:t>
            </a:r>
            <a:r>
              <a:rPr i="0"/>
              <a:t> </a:t>
            </a:r>
            <a:r>
              <a:rPr b="1" i="0"/>
              <a:t>J. Water Resour. Manag.</a:t>
            </a:r>
            <a:r>
              <a:rPr i="0"/>
              <a:t>, vol. 32, no. 7, pp. 2151–2165, 2018.</a:t>
            </a:r>
            <a:endParaRPr i="0"/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i="1"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i="0"/>
              <a:t>[2] P. Sharma, R. Verma, and K. Singh, </a:t>
            </a:r>
            <a:r>
              <a:t>“Assessment of rainwater harvesting systems in semi-arid regions,”</a:t>
            </a:r>
            <a:r>
              <a:rPr i="0"/>
              <a:t> </a:t>
            </a:r>
            <a:r>
              <a:rPr b="1" i="0"/>
              <a:t>Environ. Sustain. J.</a:t>
            </a:r>
            <a:r>
              <a:rPr i="0"/>
              <a:t>, vol. 14, no. 3, pp. 120–132, 2019.</a:t>
            </a:r>
            <a:endParaRPr i="0"/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i="1"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i="0"/>
              <a:t>[3] J. Thomas and L. Andrews, </a:t>
            </a:r>
            <a:r>
              <a:t>“Role of rooftop rainwater harvesting in sustainable urban water management,”</a:t>
            </a:r>
            <a:r>
              <a:rPr i="0"/>
              <a:t> </a:t>
            </a:r>
            <a:r>
              <a:rPr b="1" i="0"/>
              <a:t>Int. J. Environ. Stud.</a:t>
            </a:r>
            <a:r>
              <a:rPr i="0"/>
              <a:t>, vol. 77, no. 5, pp. 687–701, 2020.</a:t>
            </a:r>
            <a:endParaRPr i="0"/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i="1"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i="0"/>
              <a:t>[4] S. Meena and R. Jain, </a:t>
            </a:r>
            <a:r>
              <a:t>“Importance of rainwater harvesting for sustainable urban development in Indian cities,”</a:t>
            </a:r>
            <a:r>
              <a:rPr i="0"/>
              <a:t> </a:t>
            </a:r>
            <a:r>
              <a:rPr b="1" i="0"/>
              <a:t>Urban Water J.</a:t>
            </a:r>
            <a:r>
              <a:rPr i="0"/>
              <a:t>, vol. 15, no. 2, pp. 110–123, 2018.</a:t>
            </a:r>
            <a:endParaRPr i="0"/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i="1"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i="0"/>
              <a:t>[5] A. Chatterjee, P. Das, and S. Sen, </a:t>
            </a:r>
            <a:r>
              <a:t>“Efficiency testing of rooftop rainwater harvesting systems in Eastern India,”</a:t>
            </a:r>
            <a:r>
              <a:rPr i="0"/>
              <a:t> </a:t>
            </a:r>
            <a:r>
              <a:rPr b="1" i="0"/>
              <a:t>Water Conserv. Res.</a:t>
            </a:r>
            <a:r>
              <a:rPr i="0"/>
              <a:t>, vol. 21, no. 4, pp. 45–56, 2017.</a:t>
            </a:r>
            <a:endParaRPr i="0"/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i="1"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i="0"/>
              <a:t>[6] M. Patel and V. Sinha, </a:t>
            </a:r>
            <a:r>
              <a:t>“Viability of rooftop rainwater harvesting in residential buildings,”</a:t>
            </a:r>
            <a:r>
              <a:rPr i="0"/>
              <a:t> </a:t>
            </a:r>
            <a:r>
              <a:rPr b="1" i="0"/>
              <a:t>J. Build. Eng.</a:t>
            </a:r>
            <a:r>
              <a:rPr i="0"/>
              <a:t>, vol. 8, pp. 112–119, 2016.</a:t>
            </a:r>
            <a:endParaRPr i="0"/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i="1"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i="0"/>
              <a:t>[7] R. Bhatia and P. Kumar, </a:t>
            </a:r>
            <a:r>
              <a:t>“Cost-benefit analysis of rooftop rainwater harvesting systems,”</a:t>
            </a:r>
            <a:r>
              <a:rPr i="0"/>
              <a:t> </a:t>
            </a:r>
            <a:r>
              <a:rPr b="1" i="0"/>
              <a:t>Sustain. Water Resour. Manag.</a:t>
            </a:r>
            <a:r>
              <a:rPr i="0"/>
              <a:t>, vol. 5, no. 1, pp. 75–84, 2019.</a:t>
            </a:r>
            <a:endParaRPr i="0"/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i="1"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i="0"/>
              <a:t>[8] A. Singh, </a:t>
            </a:r>
            <a:r>
              <a:t>“Water conservation using rooftop rainwater harvesting,”</a:t>
            </a:r>
            <a:r>
              <a:rPr i="0"/>
              <a:t> </a:t>
            </a:r>
            <a:r>
              <a:rPr b="1" i="0"/>
              <a:t>Int. J. Water Resour. Dev.</a:t>
            </a:r>
            <a:r>
              <a:rPr i="0"/>
              <a:t>, vol. 31, no. 3, pp. 421–432, 2015.</a:t>
            </a:r>
            <a:endParaRPr i="0"/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i="1"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i="0"/>
              <a:t>[9] R. Sharma and S. Verma, </a:t>
            </a:r>
            <a:r>
              <a:t>“Application of rainwater harvesting in urban water management practices,”</a:t>
            </a:r>
            <a:r>
              <a:rPr i="0"/>
              <a:t> </a:t>
            </a:r>
            <a:r>
              <a:rPr b="1" i="0"/>
              <a:t>Water Policy J.</a:t>
            </a:r>
            <a:r>
              <a:rPr i="0"/>
              <a:t>, vol. 20, no. 6, pp. 1032–1045, 2018.</a:t>
            </a:r>
            <a:endParaRPr i="0"/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i="1"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i="0"/>
              <a:t>[10] Kaggle Dataset, </a:t>
            </a:r>
            <a:r>
              <a:t>“Rainfall in India - Sub-division wise monthly data for 115 years (1901–2015),”</a:t>
            </a:r>
            <a:r>
              <a:rPr i="0"/>
              <a:t> [Online]. Available: https://www.kaggle.com/datasets</a:t>
            </a:r>
            <a:endParaRPr i="0"/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t>[11] Nominatim Geocoding API, [Online]. Available: </a:t>
            </a:r>
            <a:r>
              <a:rPr u="sng">
                <a:hlinkClick r:id="rId2" invalidUrl="" action="" tgtFrame="" tooltip="" history="1" highlightClick="0" endSnd="0"/>
              </a:rPr>
              <a:t>https://nominatim.org</a:t>
            </a:r>
            <a:br/>
          </a:p>
          <a:p>
            <a:pPr marL="113042" indent="-113042" defTabSz="914400">
              <a:lnSpc>
                <a:spcPct val="135000"/>
              </a:lnSpc>
              <a:spcBef>
                <a:spcPts val="0"/>
              </a:spcBef>
              <a:tabLst>
                <a:tab pos="152400" algn="l"/>
                <a:tab pos="304800" algn="l"/>
                <a:tab pos="457200" algn="l"/>
                <a:tab pos="609600" algn="l"/>
                <a:tab pos="762000" algn="l"/>
                <a:tab pos="914400" algn="l"/>
                <a:tab pos="1066800" algn="l"/>
                <a:tab pos="1219200" algn="l"/>
                <a:tab pos="1371600" algn="l"/>
                <a:tab pos="1524000" algn="l"/>
                <a:tab pos="1676400" algn="l"/>
                <a:tab pos="1828800" algn="l"/>
              </a:tabLst>
              <a:defRPr i="1" sz="2107">
                <a:solidFill>
                  <a:srgbClr val="111111"/>
                </a:solidFill>
                <a:latin typeface="Graphik"/>
                <a:ea typeface="Graphik"/>
                <a:cs typeface="Graphik"/>
                <a:sym typeface="Graphik"/>
              </a:defRPr>
            </a:pPr>
            <a:r>
              <a:rPr i="0"/>
              <a:t>[12] </a:t>
            </a:r>
            <a:r>
              <a:t>Base Paper</a:t>
            </a:r>
            <a:r>
              <a:rPr i="0"/>
              <a:t> – </a:t>
            </a:r>
            <a:r>
              <a:t>“Rooftop Rainwater Harvesting System – A Solution for Water Scarcity: A Review”</a:t>
            </a:r>
            <a:r>
              <a:rPr i="0"/>
              <a:t>  </a:t>
            </a:r>
            <a:r>
              <a:t>Authors: Rodrick Lepcha, Sanmay Kumar Patra, Ratneswar Ray, Sukram Thapa, Deewaker Baral, Sutanwa Saha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